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b5acdc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ab5acdc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ab5acdc5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ab5acdc5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b5acdc5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ab5acdc5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b5acdc5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ab5acdc5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ab5acdc5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ab5acdc5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b5acdc5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ab5acdc5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b5acdc5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ab5acdc5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b5acdc5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b5acdc5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ab5acdc52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ab5acdc52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b5acdc5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ab5acdc5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b5acdc5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ab5acdc5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ab5acdc5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ab5acdc5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ab5acdc52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ab5acdc52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ab5acdc5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ab5acdc5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b5acdc5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ab5acdc5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rotofes-dashboard-2vfu7wrxxa-an.a.run.app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presentation/d/19-d4Z05WJ8dROfW4v6AJdML97Jb3gvoKg0KTLruC9OA/edit?slide=id.g3e96d96d535_1_683#slide=id.g3e96d96d535_1_683" TargetMode="External"/><Relationship Id="rId4" Type="http://schemas.openxmlformats.org/officeDocument/2006/relationships/hyperlink" Target="https://docs.google.com/presentation/d/1ZTFfL5MXbuRbIIEqOluQoiCNH2WE4zGy82e-Jx9lpeg/edit?slide=id.g3ee9a1da445_2_396#slide=id.g3ee9a1da445_2_396" TargetMode="External"/><Relationship Id="rId5" Type="http://schemas.openxmlformats.org/officeDocument/2006/relationships/hyperlink" Target="https://docs.google.com/presentation/d/1ZTFfL5MXbuRbIIEqOluQoiCNH2WE4zGy82e-Jx9lpeg/edit?slide=id.g3ee9a1da445_2_396#slide=id.g3ee9a1da445_2_396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アジェンダ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"/>
              <a:t>去年のデータを分析した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"/>
              <a:t>ビンゴゲームとレコメンドシステムの問題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"/>
              <a:t>改善提案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"/>
              <a:t>アプリのデモ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 </a:t>
            </a:r>
            <a:r>
              <a:rPr lang="ja"/>
              <a:t>去年のデータの分析結果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WEB</a:t>
            </a:r>
            <a:r>
              <a:rPr lang="ja"/>
              <a:t>：</a:t>
            </a:r>
            <a:r>
              <a:rPr lang="ja" u="sng">
                <a:solidFill>
                  <a:schemeClr val="hlink"/>
                </a:solidFill>
                <a:hlinkClick r:id="rId3"/>
              </a:rPr>
              <a:t>https://protofes-dashboard-2vfu7wrxxa-an.a.run.app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パスワード：</a:t>
            </a:r>
            <a:r>
              <a:rPr lang="ja">
                <a:solidFill>
                  <a:schemeClr val="lt1"/>
                </a:solidFill>
              </a:rPr>
              <a:t>rpjvh-dwbai-rjmuo-udliq-fqzie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 去年のデータの分析結果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423925" y="4629000"/>
            <a:ext cx="58290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2025年度プロトフェス 参加者データ(FireStore)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979925" y="2148875"/>
            <a:ext cx="14157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スクショ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138" y="1035975"/>
            <a:ext cx="6265724" cy="357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2201000" y="3679350"/>
            <a:ext cx="661500" cy="79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"/>
              <a:t>ハッシュ化されたパスワード</a:t>
            </a:r>
            <a:endParaRPr sz="100"/>
          </a:p>
        </p:txBody>
      </p:sp>
      <p:sp>
        <p:nvSpPr>
          <p:cNvPr id="74" name="Google Shape;74;p15"/>
          <p:cNvSpPr txBox="1"/>
          <p:nvPr/>
        </p:nvSpPr>
        <p:spPr>
          <a:xfrm>
            <a:off x="5257775" y="3962400"/>
            <a:ext cx="47556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例) 実際のデータ(三上のデータ)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 去年のデータの分析結果</a:t>
            </a:r>
            <a:endParaRPr/>
          </a:p>
        </p:txBody>
      </p:sp>
      <p:pic>
        <p:nvPicPr>
          <p:cNvPr id="80" name="Google Shape;80;p16" title="スクリーンショット 2026-08-20 2.4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50" y="1860499"/>
            <a:ext cx="8593900" cy="14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 去年のデータの分析結果</a:t>
            </a:r>
            <a:endParaRPr/>
          </a:p>
        </p:txBody>
      </p:sp>
      <p:pic>
        <p:nvPicPr>
          <p:cNvPr id="87" name="Google Shape;87;p17" title="スクリーンショット 2026-08-20 2.4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50" y="1860499"/>
            <a:ext cx="8593900" cy="14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7102675" y="2278425"/>
            <a:ext cx="1694100" cy="973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 去年のデータの分析結果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1766700" y="1724075"/>
            <a:ext cx="7065600" cy="28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>
                <a:solidFill>
                  <a:schemeClr val="lt1"/>
                </a:solidFill>
              </a:rPr>
              <a:t>vh-dwbai-rjmuo-udliq-fqzie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6" name="Google Shape;96;p18" title="スクリーンショット 2026-08-20 2.54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825" y="1017725"/>
            <a:ext cx="6434326" cy="36200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 title="スクリーンショット 2026-08-20 2.54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825" y="1017725"/>
            <a:ext cx="6434326" cy="362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2751688" y="2648525"/>
            <a:ext cx="347100" cy="35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3570838" y="3277175"/>
            <a:ext cx="347100" cy="35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4398438" y="3453875"/>
            <a:ext cx="347100" cy="35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2647463" y="2331525"/>
            <a:ext cx="11586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中央値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3059638" y="2821188"/>
            <a:ext cx="1369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最短最大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ビンゴ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3887238" y="3108925"/>
            <a:ext cx="1369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ビンゴ</a:t>
            </a:r>
            <a:r>
              <a:rPr lang="ja" sz="1000">
                <a:solidFill>
                  <a:schemeClr val="dk2"/>
                </a:solidFill>
              </a:rPr>
              <a:t>コンプリート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 去年のデータの分析結果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5256750" y="2675975"/>
            <a:ext cx="28383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ガチャコイン4枚獲得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最低で11マス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コンプリート16マス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1" name="Google Shape;111;p19"/>
          <p:cNvGrpSpPr/>
          <p:nvPr/>
        </p:nvGrpSpPr>
        <p:grpSpPr>
          <a:xfrm>
            <a:off x="5256750" y="702000"/>
            <a:ext cx="2042100" cy="2042100"/>
            <a:chOff x="6057550" y="750100"/>
            <a:chExt cx="2042100" cy="2042100"/>
          </a:xfrm>
        </p:grpSpPr>
        <p:sp>
          <p:nvSpPr>
            <p:cNvPr id="112" name="Google Shape;112;p19"/>
            <p:cNvSpPr/>
            <p:nvPr/>
          </p:nvSpPr>
          <p:spPr>
            <a:xfrm>
              <a:off x="61867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66439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71011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75583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6186700" y="1365725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6643900" y="136572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7101100" y="137587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7558300" y="137587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6186700" y="1805800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6643900" y="1805800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7101100" y="180580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7558300" y="180580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6186700" y="2245875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6643900" y="2245875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7101100" y="223572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7558300" y="223572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6057550" y="1090025"/>
              <a:ext cx="2042100" cy="88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 rot="5400000">
              <a:off x="6285850" y="1726750"/>
              <a:ext cx="2042100" cy="88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 rot="2700000">
              <a:off x="5705693" y="1734665"/>
              <a:ext cx="2745837" cy="72973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9"/>
            <p:cNvSpPr/>
            <p:nvPr/>
          </p:nvSpPr>
          <p:spPr>
            <a:xfrm rot="5400000">
              <a:off x="6743050" y="1726750"/>
              <a:ext cx="2042100" cy="88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9"/>
          <p:cNvSpPr/>
          <p:nvPr/>
        </p:nvSpPr>
        <p:spPr>
          <a:xfrm>
            <a:off x="1822013" y="1764200"/>
            <a:ext cx="347100" cy="35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1500537" y="1351700"/>
            <a:ext cx="22278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参加登録だけして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チェックインをしていない層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34" name="Google Shape;1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 title="スクリーンショット 2026-08-20 2.54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825" y="1017725"/>
            <a:ext cx="6434326" cy="3620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2751688" y="2648525"/>
            <a:ext cx="347100" cy="35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3570838" y="3277175"/>
            <a:ext cx="347100" cy="35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4398438" y="3453875"/>
            <a:ext cx="347100" cy="353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 txBox="1"/>
          <p:nvPr/>
        </p:nvSpPr>
        <p:spPr>
          <a:xfrm>
            <a:off x="2647463" y="2331525"/>
            <a:ext cx="11586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中央値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059638" y="2821188"/>
            <a:ext cx="1369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最短最大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ビンゴ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3887238" y="3002225"/>
            <a:ext cx="1369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普通これくらい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solidFill>
                  <a:schemeClr val="dk2"/>
                </a:solidFill>
              </a:rPr>
              <a:t>最大ビンゴ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6" name="Google Shape;14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 去年のデータの分析結果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5256750" y="2675975"/>
            <a:ext cx="28383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ガチャコイン4枚獲得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最低で11マス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800">
                <a:solidFill>
                  <a:schemeClr val="dk2"/>
                </a:solidFill>
              </a:rPr>
              <a:t>コンプリート16マス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48" name="Google Shape;148;p20"/>
          <p:cNvGrpSpPr/>
          <p:nvPr/>
        </p:nvGrpSpPr>
        <p:grpSpPr>
          <a:xfrm>
            <a:off x="5256750" y="702000"/>
            <a:ext cx="2042100" cy="2042100"/>
            <a:chOff x="6057550" y="750100"/>
            <a:chExt cx="2042100" cy="2042100"/>
          </a:xfrm>
        </p:grpSpPr>
        <p:sp>
          <p:nvSpPr>
            <p:cNvPr id="149" name="Google Shape;149;p20"/>
            <p:cNvSpPr/>
            <p:nvPr/>
          </p:nvSpPr>
          <p:spPr>
            <a:xfrm>
              <a:off x="61867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66439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71011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7558300" y="92565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6186700" y="1365725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6643900" y="136572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7101100" y="137587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7558300" y="137587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6186700" y="1805800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6643900" y="1805800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7101100" y="180580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7558300" y="1805800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6186700" y="2245875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6643900" y="2245875"/>
              <a:ext cx="411600" cy="39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7101100" y="223572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7558300" y="2235725"/>
              <a:ext cx="411600" cy="3957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6057550" y="1090025"/>
              <a:ext cx="2042100" cy="88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 rot="5400000">
              <a:off x="6285850" y="1726750"/>
              <a:ext cx="2042100" cy="88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 rot="2700000">
              <a:off x="5705693" y="1734665"/>
              <a:ext cx="2745837" cy="72973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 rot="5400000">
              <a:off x="6743050" y="1726750"/>
              <a:ext cx="2042100" cy="888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0"/>
          <p:cNvSpPr/>
          <p:nvPr/>
        </p:nvSpPr>
        <p:spPr>
          <a:xfrm>
            <a:off x="1390350" y="1683300"/>
            <a:ext cx="6363300" cy="17769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/>
              <a:t>そもそも周遊率が悪い</a:t>
            </a:r>
            <a:br>
              <a:rPr lang="ja" sz="3000"/>
            </a:br>
            <a:r>
              <a:rPr lang="ja" sz="3000"/>
              <a:t>&amp;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/>
              <a:t>アプリを使ってもらえてない</a:t>
            </a:r>
            <a:endParaRPr sz="3000"/>
          </a:p>
        </p:txBody>
      </p:sp>
      <p:sp>
        <p:nvSpPr>
          <p:cNvPr id="170" name="Google Shape;17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 </a:t>
            </a:r>
            <a:r>
              <a:rPr lang="ja"/>
              <a:t>ビンゴゲームとレコメンドシステムの問題</a:t>
            </a:r>
            <a:endParaRPr/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ja">
                <a:solidFill>
                  <a:schemeClr val="dk1"/>
                </a:solidFill>
              </a:rPr>
              <a:t>イベント来場時に決定する静的なビンゴカードでは正確な推薦ができない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ja">
                <a:solidFill>
                  <a:schemeClr val="dk1"/>
                </a:solidFill>
              </a:rPr>
              <a:t>早い時間に来場した参加者はコールドスタート問題が起こる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3 </a:t>
            </a:r>
            <a:r>
              <a:rPr lang="ja"/>
              <a:t>改善提案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ja">
                <a:solidFill>
                  <a:schemeClr val="dk1"/>
                </a:solidFill>
              </a:rPr>
              <a:t>周遊率をあげる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ja" sz="1800">
                <a:solidFill>
                  <a:schemeClr val="dk1"/>
                </a:solidFill>
              </a:rPr>
              <a:t>視覚的に周遊難易度を下げる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ja" sz="1800">
                <a:solidFill>
                  <a:schemeClr val="dk1"/>
                </a:solidFill>
              </a:rPr>
              <a:t>ビンゴカードを段階的なものに変更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ja">
                <a:solidFill>
                  <a:schemeClr val="dk1"/>
                </a:solidFill>
              </a:rPr>
              <a:t>レコメンドの精度をあげる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ja" sz="1800">
                <a:solidFill>
                  <a:schemeClr val="dk1"/>
                </a:solidFill>
              </a:rPr>
              <a:t>事前アンケートの結果を属性として利用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ja" sz="1800">
                <a:solidFill>
                  <a:schemeClr val="dk1"/>
                </a:solidFill>
              </a:rPr>
              <a:t>レコメンドタイミングを遅らせる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4" name="Google Shape;18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いきなり16マスを見せられると視覚的にハードルが高いと予想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→ 中央4マスのみ表示、事前進捗で1マスはサービス。まずは3つ回ってね。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ja"/>
            </a:br>
            <a:r>
              <a:rPr lang="ja"/>
              <a:t>最初に自由な3つのブースを回った段階で他のマスを解放(レコメンド実行)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→ 段階的</a:t>
            </a:r>
            <a:r>
              <a:rPr lang="ja"/>
              <a:t>目標</a:t>
            </a:r>
            <a:r>
              <a:rPr lang="ja"/>
              <a:t>で継続を期待できる。レコメンドタイミングも遅延できる。</a:t>
            </a:r>
            <a:endParaRPr/>
          </a:p>
        </p:txBody>
      </p:sp>
      <p:sp>
        <p:nvSpPr>
          <p:cNvPr id="190" name="Google Shape;19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3-1 周遊率を上げる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5782025" y="3135625"/>
            <a:ext cx="33033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過去のゼミ資料から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ja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事前進捗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ja" sz="1800" u="sng">
                <a:solidFill>
                  <a:schemeClr val="hlink"/>
                </a:solidFill>
                <a:hlinkClick r:id="rId4"/>
              </a:rPr>
              <a:t>段階的</a:t>
            </a:r>
            <a:r>
              <a:rPr lang="ja" sz="1800" u="sng">
                <a:solidFill>
                  <a:schemeClr val="hlink"/>
                </a:solidFill>
                <a:hlinkClick r:id="rId5"/>
              </a:rPr>
              <a:t>目標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u="sng"/>
              <a:t>事前アンケート結果 × 実際に最初に訪れたブース</a:t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この組み合わせを属性として利用する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→ 少しでも多く似た属性を持つ人を抽出する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ja"/>
            </a:br>
            <a:r>
              <a:rPr lang="ja"/>
              <a:t>参加者が少しブースを回ってから推薦をする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→ 0データでのレコメンドを回避</a:t>
            </a:r>
            <a:br>
              <a:rPr lang="ja"/>
            </a:br>
            <a:endParaRPr/>
          </a:p>
        </p:txBody>
      </p:sp>
      <p:sp>
        <p:nvSpPr>
          <p:cNvPr id="198" name="Google Shape;19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3-2 </a:t>
            </a:r>
            <a:r>
              <a:rPr lang="ja"/>
              <a:t>レコメンドの精度をあげる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事前進捗と段階的目標でアプリ離れの防止と周遊率の向上を図る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コールドスタート問題解消とレコメンドの精度向上を目指す</a:t>
            </a:r>
            <a:endParaRPr/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3 </a:t>
            </a:r>
            <a:r>
              <a:rPr lang="ja"/>
              <a:t>改善提案まとめ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 </a:t>
            </a:r>
            <a:r>
              <a:rPr lang="ja"/>
              <a:t>アプリのデモ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1015350" y="1811550"/>
            <a:ext cx="7113300" cy="15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フロント/バック共に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integration/2026-08-bingo-staged-unlockブランチの状態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4 アプリのデモ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7" title="スクリーンショット 2026-08-20 6.02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00" y="1528475"/>
            <a:ext cx="2582349" cy="31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 title="スクリーンショット 2026-08-20 6.03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3075" y="1534821"/>
            <a:ext cx="2582350" cy="3141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 title="スクリーンショット 2026-08-20 6.03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1800" y="1528475"/>
            <a:ext cx="2723981" cy="31043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